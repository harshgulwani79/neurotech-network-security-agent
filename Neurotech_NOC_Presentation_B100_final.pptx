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370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215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C4A7">
              <a:alpha val="12000"/>
            </a:srgbClr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097280"/>
          </a:xfrm>
          <a:prstGeom prst="rect">
            <a:avLst/>
          </a:prstGeom>
          <a:solidFill>
            <a:srgbClr val="00C4A7">
              <a:alpha val="12000"/>
            </a:srgbClr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580" y="10972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800" dirty="0">
                <a:solidFill>
                  <a:srgbClr val="00C4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NEUROTECH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128016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Network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 Centre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BA3C7"/>
                </a:solidFill>
              </a:rPr>
              <a:t>AI-Powered Anomaly Detection · Autonomous Response · Continuous Learning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475488" cy="256032"/>
          </a:xfrm>
          <a:prstGeom prst="roundRect">
            <a:avLst>
              <a:gd name="adj" fmla="val 17857"/>
            </a:avLst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3756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ML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69848" y="3337560"/>
            <a:ext cx="576072" cy="256032"/>
          </a:xfrm>
          <a:prstGeom prst="roundRect">
            <a:avLst>
              <a:gd name="adj" fmla="val 1785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9848" y="333756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LLM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783080" y="33375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83080" y="3337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Agentic AI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3337560"/>
            <a:ext cx="1179576" cy="256032"/>
          </a:xfrm>
          <a:prstGeom prst="roundRect">
            <a:avLst>
              <a:gd name="adj" fmla="val 17857"/>
            </a:avLst>
          </a:prstGeom>
          <a:solidFill>
            <a:srgbClr val="009E86"/>
          </a:solidFill>
          <a:ln w="12700">
            <a:solidFill>
              <a:srgbClr val="009E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33756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Flask API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57900" y="1363980"/>
            <a:ext cx="3086100" cy="202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</a:rPr>
              <a:t>Team id – </a:t>
            </a:r>
            <a:r>
              <a:rPr lang="en-US" b="1" dirty="0">
                <a:solidFill>
                  <a:schemeClr val="bg1"/>
                </a:solidFill>
              </a:rPr>
              <a:t>B100</a:t>
            </a:r>
          </a:p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</a:rPr>
              <a:t>Team Name – </a:t>
            </a:r>
            <a:r>
              <a:rPr lang="en-US" b="1" dirty="0">
                <a:solidFill>
                  <a:schemeClr val="bg1"/>
                </a:solidFill>
              </a:rPr>
              <a:t>Internet Explorer</a:t>
            </a:r>
          </a:p>
          <a:p>
            <a:pPr marL="0" indent="0" algn="l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</a:rPr>
              <a:t>Team Members - 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b="1" dirty="0" err="1">
                <a:solidFill>
                  <a:schemeClr val="bg1"/>
                </a:solidFill>
              </a:rPr>
              <a:t>Ishaa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Bhalekar</a:t>
            </a:r>
            <a:endParaRPr lang="en-US" b="1" dirty="0">
              <a:solidFill>
                <a:schemeClr val="bg1"/>
              </a:solidFill>
            </a:endParaRPr>
          </a:p>
          <a:p>
            <a:pPr marL="228600" indent="-228600" algn="l">
              <a:buFont typeface="+mj-lt"/>
              <a:buAutoNum type="arabicPeriod"/>
            </a:pPr>
            <a:r>
              <a:rPr lang="en-US" b="1" dirty="0" err="1">
                <a:solidFill>
                  <a:schemeClr val="bg1"/>
                </a:solidFill>
              </a:rPr>
              <a:t>Arpita</a:t>
            </a:r>
            <a:r>
              <a:rPr lang="en-US" b="1" dirty="0">
                <a:solidFill>
                  <a:schemeClr val="bg1"/>
                </a:solidFill>
              </a:rPr>
              <a:t> Das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Harsh Gulwani</a:t>
            </a:r>
            <a:r>
              <a:rPr lang="en-US" sz="1200" dirty="0">
                <a:solidFill>
                  <a:schemeClr val="bg1"/>
                </a:solidFill>
              </a:rPr>
              <a:t/>
            </a:r>
            <a:br>
              <a:rPr lang="en-US" sz="1200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Shape 0"/>
          <p:cNvSpPr/>
          <p:nvPr/>
        </p:nvSpPr>
        <p:spPr>
          <a:xfrm rot="5400000">
            <a:off x="6035040" y="914400"/>
            <a:ext cx="2926080" cy="3291840"/>
          </a:xfrm>
          <a:prstGeom prst="rect">
            <a:avLst/>
          </a:prstGeom>
          <a:solidFill>
            <a:srgbClr val="0070C0">
              <a:alpha val="12000"/>
            </a:srgbClr>
          </a:solidFill>
          <a:ln w="12700">
            <a:solidFill>
              <a:srgbClr val="00C4A7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4A7"/>
                </a:solidFill>
              </a:rPr>
              <a:t>01 · PROBLEM STATEMENT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ISP Networks Are Flying Blind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A3C7"/>
                </a:solidFill>
              </a:rPr>
              <a:t>Traditional NOC operations rely on manual monitoring — too slow, too reactive, too costly.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54864" cy="14173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01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⏱  Slow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A3C7"/>
                </a:solidFill>
              </a:rPr>
              <a:t>Human operators take 15–45 minutes to identify network anomalies. For ISPs serving 100K+ customers, every minute costs thousands.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4114800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91640"/>
            <a:ext cx="54864" cy="14173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801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🔗  No Blast Radius Awareness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A3C7"/>
                </a:solidFill>
              </a:rPr>
              <a:t>A failing core router can cascade to 5+ downstream devices affecting 200K+ customers — teams have no real-time impact map.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114800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246120"/>
            <a:ext cx="54864" cy="14173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55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No Institutional Memory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A3C7"/>
                </a:solidFill>
              </a:rPr>
              <a:t>Every shift starts fresh. Lessons from past incidents are buried in tickets. The same mistakes repeat across weeks and months.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246120"/>
            <a:ext cx="4114800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246120"/>
            <a:ext cx="54864" cy="14173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355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All-or-Nothing Escalation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703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A3C7"/>
                </a:solidFill>
              </a:rPr>
              <a:t>Operators either ignore alerts or escalate everything. No graduated response means critical issues compete for attention with noise.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4A7"/>
                </a:solidFill>
              </a:rPr>
              <a:t>02 · SOLUTION IMPLEMENTED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Neurotech Agentic NOC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A3C7"/>
                </a:solidFill>
              </a:rPr>
              <a:t>A closed-loop AI system that detects, reasons, acts, and learns — autonomously.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1572768" cy="30175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38BDF8">
              <a:alpha val="8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38BDF8"/>
                </a:solidFill>
              </a:rPr>
              <a:t>OBSERVE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0FE"/>
                </a:solidFill>
              </a:rPr>
              <a:t>Isolation Forest ML runs on 10K telemetry vectors.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8F0FE"/>
                </a:solidFill>
              </a:rPr>
              <a:t>Detects anomalies with 100% recall.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47088" y="3200400"/>
            <a:ext cx="146304" cy="0"/>
          </a:xfrm>
          <a:prstGeom prst="line">
            <a:avLst/>
          </a:prstGeom>
          <a:noFill/>
          <a:ln w="19050">
            <a:solidFill>
              <a:srgbClr val="8BA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1691640"/>
            <a:ext cx="1572768" cy="30175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1828800"/>
            <a:ext cx="548640" cy="548640"/>
          </a:xfrm>
          <a:prstGeom prst="ellipse">
            <a:avLst/>
          </a:prstGeom>
          <a:solidFill>
            <a:srgbClr val="00C4A7">
              <a:alpha val="85000"/>
            </a:srgbClr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084832" y="2514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00C4A7"/>
                </a:solidFill>
              </a:rPr>
              <a:t>REASON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84832" y="288036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0FE"/>
                </a:solidFill>
              </a:rPr>
              <a:t>Groq LLM (Llama 3) performs root cause analysis with blast radius &amp; topology context.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66160" y="3200400"/>
            <a:ext cx="146304" cy="0"/>
          </a:xfrm>
          <a:prstGeom prst="line">
            <a:avLst/>
          </a:prstGeom>
          <a:noFill/>
          <a:ln w="19050">
            <a:solidFill>
              <a:srgbClr val="8BA3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2464" y="1691640"/>
            <a:ext cx="1572768" cy="30175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15384" y="1828800"/>
            <a:ext cx="548640" cy="548640"/>
          </a:xfrm>
          <a:prstGeom prst="ellipse">
            <a:avLst/>
          </a:prstGeom>
          <a:solidFill>
            <a:srgbClr val="FF8C42">
              <a:alpha val="85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1538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03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803904" y="2514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8C42"/>
                </a:solidFill>
              </a:rPr>
              <a:t>DECIDE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03904" y="288036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0FE"/>
                </a:solidFill>
              </a:rPr>
              <a:t>Tiered guardrails classify every incident as Tier 1 / 2 / 3 — LLM cannot override the tier.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85232" y="3200400"/>
            <a:ext cx="146304" cy="0"/>
          </a:xfrm>
          <a:prstGeom prst="line">
            <a:avLst/>
          </a:prstGeom>
          <a:noFill/>
          <a:ln w="19050">
            <a:solidFill>
              <a:srgbClr val="8BA3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31536" y="1691640"/>
            <a:ext cx="1572768" cy="30175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34456" y="1828800"/>
            <a:ext cx="548640" cy="548640"/>
          </a:xfrm>
          <a:prstGeom prst="ellipse">
            <a:avLst/>
          </a:prstGeom>
          <a:solidFill>
            <a:srgbClr val="FF4757">
              <a:alpha val="85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3445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04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522976" y="2514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4757"/>
                </a:solidFill>
              </a:rPr>
              <a:t>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22976" y="288036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0FE"/>
                </a:solidFill>
              </a:rPr>
              <a:t>Auto-execute low-risk actions. Human-gate medium risk. Always escalate critical events.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04304" y="3200400"/>
            <a:ext cx="146304" cy="0"/>
          </a:xfrm>
          <a:prstGeom prst="line">
            <a:avLst/>
          </a:prstGeom>
          <a:noFill/>
          <a:ln w="19050">
            <a:solidFill>
              <a:srgbClr val="8BA3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0608" y="1691640"/>
            <a:ext cx="1572768" cy="30175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53528" y="1828800"/>
            <a:ext cx="548640" cy="548640"/>
          </a:xfrm>
          <a:prstGeom prst="ellipse">
            <a:avLst/>
          </a:prstGeom>
          <a:solidFill>
            <a:srgbClr val="FFD700">
              <a:alpha val="8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5352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05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7242048" y="2514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D700"/>
                </a:solidFill>
              </a:rPr>
              <a:t>LEARN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42048" y="288036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0FE"/>
                </a:solidFill>
              </a:rPr>
              <a:t>Every action saved as IF→THEN policy. Injected into next LLM prompt for run-over-run improvement.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4A7"/>
                </a:solidFill>
              </a:rPr>
              <a:t>♻  The loop runs continuously — each cycle makes the system smarter than the last.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4A7"/>
                </a:solidFill>
              </a:rPr>
              <a:t>03 · FEATURES · TIERED DECISION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Three-Tier Guardrail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A3C7"/>
                </a:solidFill>
              </a:rPr>
              <a:t>Risk tier is set ONLY by ML score — the LLM can never override it. Hard guardrails prevent autonomous overreach.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841248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109728" cy="914400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96596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2ED573">
              <a:alpha val="80000"/>
            </a:srgbClr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659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D573"/>
                </a:solidFill>
              </a:rPr>
              <a:t>T1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783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D573"/>
                </a:solidFill>
              </a:rPr>
              <a:t>TIER 1 · AUTONOMOUS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20756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Score &gt; −0.072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1783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</a:rPr>
              <a:t>Actions: rate_limit · qos_adjustment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66160" y="20391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Auto-executes if LLM confidence ≥ 80%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228600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</a:rPr>
              <a:t>Low-risk, fully reversible actions executed without human intervention. System acts in seconds.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841248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43200"/>
            <a:ext cx="109728" cy="9144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01752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FF8C42">
              <a:alpha val="80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175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C42"/>
                </a:solidFill>
              </a:rPr>
              <a:t>T2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2834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42"/>
                </a:solidFill>
              </a:rPr>
              <a:t>TIER 2 · HUMAN-GATED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−0.079 &lt; Score ≤ −0.072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2834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</a:rPr>
              <a:t>Actions: traffic_reroute · config_rollback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30906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Requires operator approval (y/n/rollback)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6160" y="333756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</a:rPr>
              <a:t>Medium-risk actions paused for human sign-off. Operator can approve, reject, or trigger rollback.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794760"/>
            <a:ext cx="841248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794760"/>
            <a:ext cx="109728" cy="9144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06908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FF4757">
              <a:alpha val="8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069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757"/>
                </a:solidFill>
              </a:rPr>
              <a:t>T3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3886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757"/>
                </a:solidFill>
              </a:rPr>
              <a:t>TIER 3 · ESCALATE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34440" y="41788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Score ≤ −0.079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66160" y="3886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</a:rPr>
              <a:t>Actions: escalate only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66160" y="4142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Always escalates to L3 Engineering, no prompt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66160" y="438912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</a:rPr>
              <a:t>Critical incidents autonomously routed to senior engineers. System documents full context automatically.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162B56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4663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700"/>
                </a:solidFill>
              </a:rPr>
              <a:t>🔄  AUTO-ROLLBACK: If eval confidence ≤ 60% on any executed action, the system automatically reverses it and saves the lesson to memory.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4A7"/>
                </a:solidFill>
              </a:rPr>
              <a:t>04 ·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Capabilities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402951"/>
            <a:ext cx="27432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402951"/>
            <a:ext cx="54864" cy="1005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94391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🧠  Isolation Forest 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1786999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C7"/>
                </a:solidFill>
              </a:rPr>
              <a:t>9,990 telemetry vectors · contamination=0.001 · </a:t>
            </a:r>
            <a:r>
              <a:rPr lang="en-US" sz="900" dirty="0" smtClean="0">
                <a:solidFill>
                  <a:srgbClr val="8BA3C7"/>
                </a:solidFill>
              </a:rPr>
              <a:t>recall</a:t>
            </a:r>
            <a:r>
              <a:rPr lang="en-US" sz="900" dirty="0">
                <a:solidFill>
                  <a:srgbClr val="8BA3C7"/>
                </a:solidFill>
              </a:rPr>
              <a:t>, </a:t>
            </a:r>
            <a:r>
              <a:rPr lang="en-US" sz="900" dirty="0" smtClean="0">
                <a:solidFill>
                  <a:srgbClr val="8BA3C7"/>
                </a:solidFill>
              </a:rPr>
              <a:t>precision, missed </a:t>
            </a:r>
            <a:r>
              <a:rPr lang="en-US" sz="900" dirty="0">
                <a:solidFill>
                  <a:srgbClr val="8BA3C7"/>
                </a:solidFill>
              </a:rPr>
              <a:t>anomalies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1402951"/>
            <a:ext cx="27432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402951"/>
            <a:ext cx="54864" cy="100584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1494391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💬  LLM Reasoning Engine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9272" y="1786999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C7"/>
                </a:solidFill>
              </a:rPr>
              <a:t>Groq Llama 3 · root cause hypothesis · blast radius summary · per-decision learned rule output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402951"/>
            <a:ext cx="27432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402951"/>
            <a:ext cx="54864" cy="10058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494391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  BFS Blast Radius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9632" y="1786999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C7"/>
                </a:solidFill>
              </a:rPr>
              <a:t>Graph traversal 2 hops deep · real customer counts from topology · up to 293K customers tracked per event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500231"/>
            <a:ext cx="27432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00231"/>
            <a:ext cx="54864" cy="1005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591671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Partial Observability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2884279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C7"/>
                </a:solidFill>
              </a:rPr>
              <a:t>20% sensor failure simulation · UNAVAILABLE metrics handled · LLM reasons conservatively on missing 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54680" y="2500231"/>
            <a:ext cx="27432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500231"/>
            <a:ext cx="54864" cy="10058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591671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📚  Persistent Memory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9272" y="2884279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C7"/>
                </a:solidFill>
              </a:rPr>
              <a:t>Every action saved as IF→THEN policy · Device-specific rules prioritised · Last 6 rules injected into LLM prompt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2500231"/>
            <a:ext cx="27432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500231"/>
            <a:ext cx="54864" cy="10058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2591671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🚨  Cascade Detection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9632" y="2884279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C7"/>
                </a:solidFill>
              </a:rPr>
              <a:t>Simultaneously-failing connected devices flagged · wider blast radius computed · engineers alerted proactively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597511"/>
            <a:ext cx="27432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597511"/>
            <a:ext cx="54864" cy="100584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688951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 Smart Rollback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8912" y="3981559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C7"/>
                </a:solidFill>
              </a:rPr>
              <a:t>Human-triggered or auto-triggered · eval confidence gating · ROLLBACK entries stored in memory to prevent repeat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54680" y="3597511"/>
            <a:ext cx="27432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54680" y="3597511"/>
            <a:ext cx="54864" cy="1005840"/>
          </a:xfrm>
          <a:prstGeom prst="rect">
            <a:avLst/>
          </a:prstGeom>
          <a:solidFill>
            <a:srgbClr val="8BA3C7"/>
          </a:solidFill>
          <a:ln w="12700">
            <a:solidFill>
              <a:srgbClr val="8BA3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9272" y="3688951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Full Audit Trail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9272" y="3981559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C7"/>
                </a:solidFill>
              </a:rPr>
              <a:t>Every action written to audit_log.txt · timestamp · device · metrics · status · immutable record for compliance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35040" y="3597511"/>
            <a:ext cx="27432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3597511"/>
            <a:ext cx="54864" cy="10058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3688951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🛡️  Policy Violation Guard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99632" y="3981559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C7"/>
                </a:solidFill>
              </a:rPr>
              <a:t>Checks proposed actions against past learned rules · flags contradictions before execution · no silent rule breaks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4A7"/>
                </a:solidFill>
              </a:rPr>
              <a:t>05 · TECH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2538" y="1303020"/>
            <a:ext cx="4114800" cy="333756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2538" y="1303020"/>
            <a:ext cx="54864" cy="333756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138" y="13944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4A7"/>
                </a:solidFill>
              </a:rPr>
              <a:t>BACKEND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6858" y="1851660"/>
            <a:ext cx="91440" cy="91440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9738" y="17876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 3.10+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34178" y="17876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Core language for agent &amp; ML pipeline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6858" y="2235708"/>
            <a:ext cx="91440" cy="91440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9738" y="21717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scikit-learn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34178" y="21717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Isolation Forest · StandardScaler · anomaly detection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858" y="2619756"/>
            <a:ext cx="91440" cy="91440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9738" y="25557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Groq 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34178" y="25557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LLM inference — llama-3.1-8b-instant (free tier)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6858" y="3003804"/>
            <a:ext cx="91440" cy="91440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9738" y="29397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Llama 3 (8B)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34178" y="29397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Root cause reasoning · policy generation · JSON output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6858" y="3387852"/>
            <a:ext cx="91440" cy="91440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9738" y="33238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pandas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34178" y="33238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Telemetry ingestion · DataFrame operations · CSV processing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6858" y="3771900"/>
            <a:ext cx="91440" cy="91440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9738" y="37078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Flask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34178" y="37078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REST API server · /analyze · /memory · /topology · /telemetry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31658" y="1280160"/>
            <a:ext cx="4114800" cy="3373882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31658" y="1303020"/>
            <a:ext cx="54864" cy="3337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0258" y="13944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8BDF8"/>
                </a:solidFill>
              </a:rPr>
              <a:t>FRONTEND &amp; INFRA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42554" y="1810512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25434" y="17465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Node.js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25634" y="17465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Frontend toolchain &amp; JS dependency management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42554" y="219456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25434" y="2130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network_memory.json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25634" y="2130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Persistent learned policies storage (last 50)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42554" y="2578608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25434" y="2514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audit_log.txt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25634" y="2514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Immutable audit trail — every action timestamped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42554" y="2962656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25434" y="2898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topology.json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25634" y="28986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ISP network graph — 10 nodes, customer counts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42554" y="3346704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25434" y="32826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telemetry_stream.csv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825634" y="32826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9,990 rows of network telemetry training data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42538" y="4384548"/>
            <a:ext cx="8503920" cy="320040"/>
          </a:xfrm>
          <a:prstGeom prst="rect">
            <a:avLst/>
          </a:prstGeom>
          <a:solidFill>
            <a:srgbClr val="162B56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25418" y="442112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4A7"/>
                </a:solidFill>
              </a:rPr>
              <a:t>API Endpoints:   POST /api/analyze   ·   GET /api/memory   ·   GET /api/topology   ·   GET /api/telemetry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4A7"/>
                </a:solidFill>
              </a:rPr>
              <a:t>06 · DIFFERENTIATION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Neurotech Is Different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A3C7"/>
                </a:solidFill>
              </a:rPr>
              <a:t>Most NOC tools alert. We act, learn, and remember.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2880360" cy="347472"/>
          </a:xfrm>
          <a:prstGeom prst="rect">
            <a:avLst/>
          </a:prstGeom>
          <a:solidFill>
            <a:srgbClr val="162B56"/>
          </a:solidFill>
          <a:ln w="12700">
            <a:solidFill>
              <a:srgbClr val="162B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002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3C7"/>
                </a:solidFill>
              </a:rPr>
              <a:t>Feature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600200"/>
            <a:ext cx="1691640" cy="347472"/>
          </a:xfrm>
          <a:prstGeom prst="rect">
            <a:avLst/>
          </a:prstGeom>
          <a:solidFill>
            <a:srgbClr val="162B56"/>
          </a:solidFill>
          <a:ln w="12700">
            <a:solidFill>
              <a:srgbClr val="162B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600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3C7"/>
                </a:solidFill>
              </a:rPr>
              <a:t>Traditional NOC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83480" y="1600200"/>
            <a:ext cx="1691640" cy="347472"/>
          </a:xfrm>
          <a:prstGeom prst="rect">
            <a:avLst/>
          </a:prstGeom>
          <a:solidFill>
            <a:srgbClr val="162B56"/>
          </a:solidFill>
          <a:ln w="12700">
            <a:solidFill>
              <a:srgbClr val="162B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600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3C7"/>
                </a:solidFill>
              </a:rPr>
              <a:t>Alert-Only Tools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20840" y="1600200"/>
            <a:ext cx="2331720" cy="347472"/>
          </a:xfrm>
          <a:prstGeom prst="rect">
            <a:avLst/>
          </a:prstGeom>
          <a:solidFill>
            <a:srgbClr val="00C4A7"/>
          </a:solidFill>
          <a:ln w="12700">
            <a:solidFill>
              <a:srgbClr val="162B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16002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Neurotech Agent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47672"/>
            <a:ext cx="2880360" cy="329184"/>
          </a:xfrm>
          <a:prstGeom prst="rect">
            <a:avLst/>
          </a:prstGeom>
          <a:solidFill>
            <a:srgbClr val="0F2044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4767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Anomaly Detection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1947672"/>
            <a:ext cx="1691640" cy="329184"/>
          </a:xfrm>
          <a:prstGeom prst="rect">
            <a:avLst/>
          </a:prstGeom>
          <a:solidFill>
            <a:srgbClr val="0F2044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9476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7"/>
                </a:solidFill>
              </a:rPr>
              <a:t>⏳ Manual / SNMP alerts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1947672"/>
            <a:ext cx="1691640" cy="329184"/>
          </a:xfrm>
          <a:prstGeom prst="rect">
            <a:avLst/>
          </a:prstGeom>
          <a:solidFill>
            <a:srgbClr val="0F2044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9476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7"/>
                </a:solidFill>
              </a:rPr>
              <a:t>✅ Threshold alerts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0840" y="1947672"/>
            <a:ext cx="2331720" cy="329184"/>
          </a:xfrm>
          <a:prstGeom prst="rect">
            <a:avLst/>
          </a:prstGeom>
          <a:solidFill>
            <a:srgbClr val="0F2A1E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9476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D573"/>
                </a:solidFill>
              </a:rPr>
              <a:t>✅ ML Isolation Forest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276856"/>
            <a:ext cx="288036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2768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Root Cause Analysis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46120" y="2276856"/>
            <a:ext cx="169164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27685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7"/>
                </a:solidFill>
              </a:rPr>
              <a:t>🧑 Engineer judgment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83480" y="2276856"/>
            <a:ext cx="169164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27685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7"/>
                </a:solidFill>
              </a:rPr>
              <a:t>❌ None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20840" y="2276856"/>
            <a:ext cx="2331720" cy="329184"/>
          </a:xfrm>
          <a:prstGeom prst="rect">
            <a:avLst/>
          </a:prstGeom>
          <a:solidFill>
            <a:srgbClr val="0B2016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22768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D573"/>
                </a:solidFill>
              </a:rPr>
              <a:t>✅ LLM with topology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2606040"/>
            <a:ext cx="2880360" cy="329184"/>
          </a:xfrm>
          <a:prstGeom prst="rect">
            <a:avLst/>
          </a:prstGeom>
          <a:solidFill>
            <a:srgbClr val="0F2044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60604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Blast Radius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46120" y="2606040"/>
            <a:ext cx="1691640" cy="329184"/>
          </a:xfrm>
          <a:prstGeom prst="rect">
            <a:avLst/>
          </a:prstGeom>
          <a:solidFill>
            <a:srgbClr val="0F2044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26060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7"/>
                </a:solidFill>
              </a:rPr>
              <a:t>❌ Unknown until outage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83480" y="2606040"/>
            <a:ext cx="1691640" cy="329184"/>
          </a:xfrm>
          <a:prstGeom prst="rect">
            <a:avLst/>
          </a:prstGeom>
          <a:solidFill>
            <a:srgbClr val="0F2044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26060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7"/>
                </a:solidFill>
              </a:rPr>
              <a:t>❌ None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20840" y="2606040"/>
            <a:ext cx="2331720" cy="329184"/>
          </a:xfrm>
          <a:prstGeom prst="rect">
            <a:avLst/>
          </a:prstGeom>
          <a:solidFill>
            <a:srgbClr val="0F2A1E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2280" y="260604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D573"/>
                </a:solidFill>
              </a:rPr>
              <a:t>✅ Real-time BFS graph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2935224"/>
            <a:ext cx="288036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93522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Decision Automation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46120" y="2935224"/>
            <a:ext cx="169164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293522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7"/>
                </a:solidFill>
              </a:rPr>
              <a:t>❌ All manual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83480" y="2935224"/>
            <a:ext cx="169164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293522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7"/>
                </a:solidFill>
              </a:rPr>
              <a:t>❌ None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720840" y="2935224"/>
            <a:ext cx="2331720" cy="329184"/>
          </a:xfrm>
          <a:prstGeom prst="rect">
            <a:avLst/>
          </a:prstGeom>
          <a:solidFill>
            <a:srgbClr val="0B2016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293522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D573"/>
                </a:solidFill>
              </a:rPr>
              <a:t>✅ 3-tier guardrails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3264408"/>
            <a:ext cx="2880360" cy="329184"/>
          </a:xfrm>
          <a:prstGeom prst="rect">
            <a:avLst/>
          </a:prstGeom>
          <a:solidFill>
            <a:srgbClr val="0F2044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26440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Human Oversight Gate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46120" y="3264408"/>
            <a:ext cx="1691640" cy="329184"/>
          </a:xfrm>
          <a:prstGeom prst="rect">
            <a:avLst/>
          </a:prstGeom>
          <a:solidFill>
            <a:srgbClr val="0F2044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37560" y="326440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7"/>
                </a:solidFill>
              </a:rPr>
              <a:t>✅ Always human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83480" y="3264408"/>
            <a:ext cx="1691640" cy="329184"/>
          </a:xfrm>
          <a:prstGeom prst="rect">
            <a:avLst/>
          </a:prstGeom>
          <a:solidFill>
            <a:srgbClr val="0F2044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4920" y="326440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7"/>
                </a:solidFill>
              </a:rPr>
              <a:t>✅ Always human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720840" y="3264408"/>
            <a:ext cx="2331720" cy="329184"/>
          </a:xfrm>
          <a:prstGeom prst="rect">
            <a:avLst/>
          </a:prstGeom>
          <a:solidFill>
            <a:srgbClr val="0F2A1E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12280" y="326440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D573"/>
                </a:solidFill>
              </a:rPr>
              <a:t>✅ Only where needed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" y="3593592"/>
            <a:ext cx="288036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59359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Persistent Learning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46120" y="3593592"/>
            <a:ext cx="169164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37560" y="359359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7"/>
                </a:solidFill>
              </a:rPr>
              <a:t>❌ Lost between shifts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983480" y="3593592"/>
            <a:ext cx="169164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74920" y="359359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7"/>
                </a:solidFill>
              </a:rPr>
              <a:t>❌ None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720840" y="3593592"/>
            <a:ext cx="2331720" cy="329184"/>
          </a:xfrm>
          <a:prstGeom prst="rect">
            <a:avLst/>
          </a:prstGeom>
          <a:solidFill>
            <a:srgbClr val="0B2016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12280" y="359359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D573"/>
                </a:solidFill>
              </a:rPr>
              <a:t>✅ IF→THEN policies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20040" y="3922776"/>
            <a:ext cx="2880360" cy="329184"/>
          </a:xfrm>
          <a:prstGeom prst="rect">
            <a:avLst/>
          </a:prstGeom>
          <a:solidFill>
            <a:srgbClr val="0F2044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" y="392277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Auto Rollback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246120" y="3922776"/>
            <a:ext cx="1691640" cy="329184"/>
          </a:xfrm>
          <a:prstGeom prst="rect">
            <a:avLst/>
          </a:prstGeom>
          <a:solidFill>
            <a:srgbClr val="0F2044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37560" y="392277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7"/>
                </a:solidFill>
              </a:rPr>
              <a:t>🧑 Manual procedure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983480" y="3922776"/>
            <a:ext cx="1691640" cy="329184"/>
          </a:xfrm>
          <a:prstGeom prst="rect">
            <a:avLst/>
          </a:prstGeom>
          <a:solidFill>
            <a:srgbClr val="0F2044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74920" y="392277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7"/>
                </a:solidFill>
              </a:rPr>
              <a:t>❌ None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720840" y="3922776"/>
            <a:ext cx="2331720" cy="329184"/>
          </a:xfrm>
          <a:prstGeom prst="rect">
            <a:avLst/>
          </a:prstGeom>
          <a:solidFill>
            <a:srgbClr val="0F2A1E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12280" y="39227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D573"/>
                </a:solidFill>
              </a:rPr>
              <a:t>✅ Confidence-gated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20040" y="4251960"/>
            <a:ext cx="288036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1480" y="425196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Sensor Fault Handling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246120" y="4251960"/>
            <a:ext cx="169164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37560" y="42519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7"/>
                </a:solidFill>
              </a:rPr>
              <a:t>❌ Fails silently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983480" y="4251960"/>
            <a:ext cx="169164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74920" y="42519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7"/>
                </a:solidFill>
              </a:rPr>
              <a:t>❌ Fails silently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720840" y="4251960"/>
            <a:ext cx="2331720" cy="329184"/>
          </a:xfrm>
          <a:prstGeom prst="rect">
            <a:avLst/>
          </a:prstGeom>
          <a:solidFill>
            <a:srgbClr val="0B2016"/>
          </a:solidFill>
          <a:ln w="6350">
            <a:solidFill>
              <a:srgbClr val="162B5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12280" y="42519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D573"/>
                </a:solidFill>
              </a:rPr>
              <a:t>✅ Partial observability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4A7"/>
                </a:solidFill>
              </a:rPr>
              <a:t>07 ·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303020"/>
            <a:ext cx="1572768" cy="32461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03020"/>
            <a:ext cx="1572768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030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0A1628"/>
                </a:solidFill>
              </a:rPr>
              <a:t>DATA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85166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7876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</a:rPr>
              <a:t>telemetry_stream.csv  (9,990 rows)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40030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33629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</a:rPr>
              <a:t>topology.json  (10-node ISP graph)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94894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88493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</a:rPr>
              <a:t>Real-time simulator metrics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84248" y="2921508"/>
            <a:ext cx="146304" cy="0"/>
          </a:xfrm>
          <a:prstGeom prst="line">
            <a:avLst/>
          </a:prstGeom>
          <a:noFill/>
          <a:ln w="19050">
            <a:solidFill>
              <a:srgbClr val="8BA3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30552" y="1303020"/>
            <a:ext cx="1572768" cy="32461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30552" y="1303020"/>
            <a:ext cx="1572768" cy="347472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76272" y="13030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0A1628"/>
                </a:solidFill>
              </a:rPr>
              <a:t>ML LAYER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67712" y="1851660"/>
            <a:ext cx="91440" cy="91440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17876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</a:rPr>
              <a:t>Isolation Forest (sklearn)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67712" y="2400300"/>
            <a:ext cx="91440" cy="91440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233629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</a:rPr>
              <a:t>StandardScaler normalisation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67712" y="2948940"/>
            <a:ext cx="91440" cy="91440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288493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</a:rPr>
              <a:t>Severity scores → Tier assignment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03320" y="2921508"/>
            <a:ext cx="146304" cy="0"/>
          </a:xfrm>
          <a:prstGeom prst="line">
            <a:avLst/>
          </a:prstGeom>
          <a:noFill/>
          <a:ln w="19050">
            <a:solidFill>
              <a:srgbClr val="8BA3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9624" y="1303020"/>
            <a:ext cx="1572768" cy="32461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9624" y="1303020"/>
            <a:ext cx="1572768" cy="34747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95344" y="13030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0A1628"/>
                </a:solidFill>
              </a:rPr>
              <a:t>LLM REASONING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986784" y="1851660"/>
            <a:ext cx="91440" cy="914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42232" y="17876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</a:rPr>
              <a:t>Groq Llama 3.1 (8B)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986784" y="2400300"/>
            <a:ext cx="91440" cy="914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42232" y="233629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</a:rPr>
              <a:t>Root cause + blast radius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986784" y="2948940"/>
            <a:ext cx="91440" cy="914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42232" y="288493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</a:rPr>
              <a:t>Learned policy injection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22392" y="2921508"/>
            <a:ext cx="146304" cy="0"/>
          </a:xfrm>
          <a:prstGeom prst="line">
            <a:avLst/>
          </a:prstGeom>
          <a:noFill/>
          <a:ln w="19050">
            <a:solidFill>
              <a:srgbClr val="8BA3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68696" y="1303020"/>
            <a:ext cx="1572768" cy="32461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68696" y="1303020"/>
            <a:ext cx="1572768" cy="34747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14416" y="13030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0A1628"/>
                </a:solidFill>
              </a:rPr>
              <a:t>DECISION ENGINE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705856" y="1851660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61304" y="17876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</a:rPr>
              <a:t>Tier guardrail enforcement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05856" y="2400300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61304" y="233629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</a:rPr>
              <a:t>3-action constraint system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705856" y="2948940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61304" y="288493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</a:rPr>
              <a:t>Confidence </a:t>
            </a:r>
            <a:r>
              <a:rPr lang="en-US" sz="850" dirty="0" smtClean="0">
                <a:solidFill>
                  <a:srgbClr val="E8F0FE"/>
                </a:solidFill>
              </a:rPr>
              <a:t>rating </a:t>
            </a:r>
            <a:r>
              <a:rPr lang="en-US" sz="850" dirty="0">
                <a:solidFill>
                  <a:srgbClr val="E8F0FE"/>
                </a:solidFill>
              </a:rPr>
              <a:t>+ rollback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41464" y="2921508"/>
            <a:ext cx="146304" cy="0"/>
          </a:xfrm>
          <a:prstGeom prst="line">
            <a:avLst/>
          </a:prstGeom>
          <a:noFill/>
          <a:ln w="19050">
            <a:solidFill>
              <a:srgbClr val="8BA3C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87768" y="1303020"/>
            <a:ext cx="1572768" cy="32461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287768" y="1303020"/>
            <a:ext cx="1572768" cy="3474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33488" y="13030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0A1628"/>
                </a:solidFill>
              </a:rPr>
              <a:t>OUTPUT LAYER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24928" y="1851660"/>
            <a:ext cx="91440" cy="9144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80376" y="17876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</a:rPr>
              <a:t>Flask REST API (backend)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424928" y="2391410"/>
            <a:ext cx="91440" cy="9144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80376" y="232740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</a:rPr>
              <a:t>Audit log + Memory </a:t>
            </a:r>
            <a:r>
              <a:rPr lang="en-US" sz="850" dirty="0" smtClean="0">
                <a:solidFill>
                  <a:srgbClr val="E8F0FE"/>
                </a:solidFill>
              </a:rPr>
              <a:t>persistence + Agent Learning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solidFill>
            <a:srgbClr val="162B56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57200" y="4736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D700"/>
                </a:solidFill>
              </a:rPr>
              <a:t>♻  MEMORY FEEDBACK LOOP  ·  Learned policies flow back from Output Layer → LLM Reasoning Layer on every subsequent run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4A7"/>
                </a:solidFill>
              </a:rPr>
              <a:t>08 ·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in Action — Real Run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316736"/>
            <a:ext cx="201168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16736"/>
            <a:ext cx="2011680" cy="54864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26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D573"/>
                </a:solidFill>
              </a:rPr>
              <a:t>100%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975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Anomaly Recall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212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</a:rPr>
              <a:t>0 missed incidents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23160" y="1316736"/>
            <a:ext cx="201168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1316736"/>
            <a:ext cx="2011680" cy="54864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426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4A7"/>
                </a:solidFill>
              </a:rPr>
              <a:t>6/6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14600" y="1975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Correct Decisions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2212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</a:rPr>
              <a:t>All tiers handled correctly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0" y="1316736"/>
            <a:ext cx="201168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316736"/>
            <a:ext cx="201168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426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8C42"/>
                </a:solidFill>
              </a:rPr>
              <a:t>221K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63440" y="1975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Customers Tracked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212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</a:rPr>
              <a:t>per Mumbai-Core-01 event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20840" y="1316736"/>
            <a:ext cx="201168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1316736"/>
            <a:ext cx="201168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426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8BDF8"/>
                </a:solidFill>
              </a:rPr>
              <a:t>3s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812280" y="1975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Decision Latency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12280" y="2212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</a:rPr>
              <a:t>Groq LLM response time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670048"/>
            <a:ext cx="8595360" cy="2217420"/>
          </a:xfrm>
          <a:prstGeom prst="rect">
            <a:avLst/>
          </a:prstGeom>
          <a:solidFill>
            <a:srgbClr val="0F2044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2761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4A7"/>
                </a:solidFill>
              </a:rPr>
              <a:t>SESSION SUMMARY — Run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0815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[1/6] Bangalore-Core-02   score=−0.0923 → 🚨 TIER 3  →  escalate         ✅  175,000 customers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332841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[2/6] Mumbai-Core-01      score=−0.0923 → 🚨 TIER 3  →  escalate         ✅  221,000 customers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357530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[3/6] NYC-Peering-01      score=−0.0766 → ⚠️  TIER 2  →  traffic_reroute  ✅  293,000 customers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38221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[4/6] Mumbai-Core-01      score=−0.0766 → ⚠️  TIER 2  →  rollback requested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06908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[5/6] Delhi-Edge-05       score=−0.0703 → ✅ TIER 1  →  rate_limit       ✅  131,000 customers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31596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[6/6] Chennai-Link-03     score=−0.0703 → ✅ TIER 1  →  rate_limit       ✅   47,000 customers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Tier1=2   Tier2=2   Tier3=2   Correct=6/6   Rollbacks=1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85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</a:rPr>
              <a:t>THANK YOU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74320" y="4160520"/>
            <a:ext cx="8595360" cy="749808"/>
          </a:xfrm>
          <a:prstGeom prst="rect">
            <a:avLst/>
          </a:prstGeom>
          <a:solidFill>
            <a:srgbClr val="162B56"/>
          </a:solidFill>
          <a:ln w="12700">
            <a:solidFill>
              <a:srgbClr val="162B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4251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4A7"/>
                </a:solidFill>
              </a:rPr>
              <a:t>github.com/harshgulwani79/Neurotech-Network-Security-Agent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1171</Words>
  <Application>Microsoft Office PowerPoint</Application>
  <PresentationFormat>On-screen Show (16:9)</PresentationFormat>
  <Paragraphs>210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Neurotech Agentic NOC</dc:title>
  <dc:subject>PptxGenJS Presentation</dc:subject>
  <dc:creator>Harsh Gulwani</dc:creator>
  <cp:lastModifiedBy>H</cp:lastModifiedBy>
  <cp:revision>13</cp:revision>
  <dcterms:created xsi:type="dcterms:W3CDTF">2026-03-08T06:37:55Z</dcterms:created>
  <dcterms:modified xsi:type="dcterms:W3CDTF">2026-03-08T14:12:59Z</dcterms:modified>
</cp:coreProperties>
</file>